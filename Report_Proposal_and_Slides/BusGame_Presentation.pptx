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6b4688840_3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e6b4688840_3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e6b4688840_3_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e6b4688840_3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B2D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screen1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9120" y="0"/>
            <a:ext cx="475488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0" y="0"/>
            <a:ext cx="4297680" cy="5143500"/>
          </a:xfrm>
          <a:prstGeom prst="rect">
            <a:avLst/>
          </a:prstGeom>
          <a:solidFill>
            <a:srgbClr val="141B2D"/>
          </a:solidFill>
          <a:ln cap="flat" cmpd="sng" w="12700">
            <a:solidFill>
              <a:srgbClr val="141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411480" y="914400"/>
            <a:ext cx="54864" cy="2926080"/>
          </a:xfrm>
          <a:prstGeom prst="rect">
            <a:avLst/>
          </a:prstGeom>
          <a:solidFill>
            <a:srgbClr val="F5C842"/>
          </a:solidFill>
          <a:ln cap="flat" cmpd="sng" w="12700">
            <a:solidFill>
              <a:srgbClr val="F5C8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548640" y="960120"/>
            <a:ext cx="3657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842"/>
              </a:buClr>
              <a:buSzPts val="5200"/>
              <a:buFont typeface="Georgia"/>
              <a:buNone/>
            </a:pPr>
            <a:r>
              <a:rPr b="1" i="0" lang="en-US" sz="5200" u="none" cap="none" strike="noStrike">
                <a:solidFill>
                  <a:srgbClr val="F5C842"/>
                </a:solidFill>
                <a:latin typeface="Georgia"/>
                <a:ea typeface="Georgia"/>
                <a:cs typeface="Georgia"/>
                <a:sym typeface="Georgia"/>
              </a:rPr>
              <a:t>Bus Game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48640" y="201168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A Competitive Pathfinding Game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48640" y="2606040"/>
            <a:ext cx="3657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5B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AA5B4"/>
                </a:solidFill>
                <a:latin typeface="Calibri"/>
                <a:ea typeface="Calibri"/>
                <a:cs typeface="Calibri"/>
                <a:sym typeface="Calibri"/>
              </a:rPr>
              <a:t>Beat rival AIs across a weighted road network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5B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AA5B4"/>
                </a:solidFill>
                <a:latin typeface="Calibri"/>
                <a:ea typeface="Calibri"/>
                <a:cs typeface="Calibri"/>
                <a:sym typeface="Calibri"/>
              </a:rPr>
              <a:t>using the lowest-cost route.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48640" y="42976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5B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AA5B4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1200">
                <a:solidFill>
                  <a:srgbClr val="9AA5B4"/>
                </a:solidFill>
                <a:latin typeface="Calibri"/>
                <a:ea typeface="Calibri"/>
                <a:cs typeface="Calibri"/>
                <a:sym typeface="Calibri"/>
              </a:rPr>
              <a:t>PSC 481</a:t>
            </a:r>
            <a:r>
              <a:rPr b="0" i="0" lang="en-US" sz="1200" u="none" cap="none" strike="noStrike">
                <a:solidFill>
                  <a:srgbClr val="9AA5B4"/>
                </a:solidFill>
                <a:latin typeface="Calibri"/>
                <a:ea typeface="Calibri"/>
                <a:cs typeface="Calibri"/>
                <a:sym typeface="Calibri"/>
              </a:rPr>
              <a:t> Project  ·  Spring 202</a:t>
            </a:r>
            <a:r>
              <a:rPr lang="en-US" sz="1200">
                <a:solidFill>
                  <a:srgbClr val="9AA5B4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200">
              <a:solidFill>
                <a:srgbClr val="9AA5B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5B4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9AA5B4"/>
                </a:solidFill>
                <a:latin typeface="Calibri"/>
                <a:ea typeface="Calibri"/>
                <a:cs typeface="Calibri"/>
                <a:sym typeface="Calibri"/>
              </a:rPr>
              <a:t>Emily Bongiorno, Kurtis Volker</a:t>
            </a:r>
            <a:endParaRPr sz="1200">
              <a:solidFill>
                <a:srgbClr val="9AA5B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Google Shape;23;p3" title="funn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4188" y="-8"/>
            <a:ext cx="9143999" cy="48846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B2D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842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5C842"/>
                </a:solidFill>
                <a:latin typeface="Georgia"/>
                <a:ea typeface="Georgia"/>
                <a:cs typeface="Georgia"/>
                <a:sym typeface="Georgia"/>
              </a:rPr>
              <a:t>Problem Overview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365760" y="914400"/>
            <a:ext cx="4023360" cy="3657600"/>
          </a:xfrm>
          <a:prstGeom prst="rect">
            <a:avLst/>
          </a:prstGeom>
          <a:solidFill>
            <a:srgbClr val="1E2A3A"/>
          </a:solidFill>
          <a:ln cap="flat" cmpd="sng" w="9525">
            <a:solidFill>
              <a:srgbClr val="2C3E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502920" y="1005840"/>
            <a:ext cx="374904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84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5C842"/>
                </a:solidFill>
                <a:latin typeface="Calibri"/>
                <a:ea typeface="Calibri"/>
                <a:cs typeface="Calibri"/>
                <a:sym typeface="Calibri"/>
              </a:rPr>
              <a:t>Question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How do different AI pathfinding strategies compare when competing on the same randomized cost graph? Can the </a:t>
            </a:r>
            <a:r>
              <a:rPr lang="en-US" sz="1300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a human </a:t>
            </a:r>
            <a:r>
              <a:rPr b="0" i="0" lang="en-US" sz="13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find a </a:t>
            </a:r>
            <a:r>
              <a:rPr lang="en-US" sz="1300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better </a:t>
            </a:r>
            <a:r>
              <a:rPr b="0" i="0" lang="en-US" sz="13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path?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84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5C842"/>
                </a:solidFill>
                <a:latin typeface="Calibri"/>
                <a:ea typeface="Calibri"/>
                <a:cs typeface="Calibri"/>
                <a:sym typeface="Calibri"/>
              </a:rPr>
              <a:t>Setup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A 10×10 grid of nodes. Every edge has a random cost from 1–50. One human player, </a:t>
            </a:r>
            <a:r>
              <a:rPr lang="en-US" sz="1300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five</a:t>
            </a:r>
            <a:r>
              <a:rPr b="0" i="0" lang="en-US" sz="13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 AI agents. Race from bottom-right to top-left. Lowest total edge cost wins.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84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5C842"/>
                </a:solidFill>
                <a:latin typeface="Calibri"/>
                <a:ea typeface="Calibri"/>
                <a:cs typeface="Calibri"/>
                <a:sym typeface="Calibri"/>
              </a:rPr>
              <a:t>Why it matters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Route optimization is a real-world CS problem.</a:t>
            </a:r>
            <a:endParaRPr sz="1300">
              <a:solidFill>
                <a:srgbClr val="F0F0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This game wa</a:t>
            </a:r>
            <a:r>
              <a:rPr lang="en-US" sz="1300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s based on </a:t>
            </a:r>
            <a:r>
              <a:rPr lang="en-US" sz="1300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the idea of </a:t>
            </a:r>
            <a:r>
              <a:rPr lang="en-US" sz="1300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a real world traffic pathing app. Can be used to study </a:t>
            </a:r>
            <a:r>
              <a:rPr b="0" i="0" lang="en-US" sz="13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algorithm tradeoffs.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creen4.png" id="32" name="Google Shape;3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914400"/>
            <a:ext cx="4206240" cy="347472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/>
          <p:nvPr/>
        </p:nvSpPr>
        <p:spPr>
          <a:xfrm>
            <a:off x="4572000" y="4434840"/>
            <a:ext cx="4206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5B4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9AA5B4"/>
                </a:solidFill>
                <a:latin typeface="Calibri"/>
                <a:ea typeface="Calibri"/>
                <a:cs typeface="Calibri"/>
                <a:sym typeface="Calibri"/>
              </a:rPr>
              <a:t>Depicted </a:t>
            </a:r>
            <a:r>
              <a:rPr lang="en-US" sz="1000">
                <a:solidFill>
                  <a:srgbClr val="9AA5B4"/>
                </a:solidFill>
                <a:latin typeface="Calibri"/>
                <a:ea typeface="Calibri"/>
                <a:cs typeface="Calibri"/>
                <a:sym typeface="Calibri"/>
              </a:rPr>
              <a:t>Gameplay</a:t>
            </a:r>
            <a:r>
              <a:rPr lang="en-US" sz="1000">
                <a:solidFill>
                  <a:srgbClr val="9AA5B4"/>
                </a:solidFill>
                <a:latin typeface="Calibri"/>
                <a:ea typeface="Calibri"/>
                <a:cs typeface="Calibri"/>
                <a:sym typeface="Calibri"/>
              </a:rPr>
              <a:t>: The P</a:t>
            </a:r>
            <a:r>
              <a:rPr b="0" i="0" lang="en-US" sz="1000" u="none" cap="none" strike="noStrike">
                <a:solidFill>
                  <a:srgbClr val="9AA5B4"/>
                </a:solidFill>
                <a:latin typeface="Calibri"/>
                <a:ea typeface="Calibri"/>
                <a:cs typeface="Calibri"/>
                <a:sym typeface="Calibri"/>
              </a:rPr>
              <a:t>layer vs the </a:t>
            </a:r>
            <a:r>
              <a:rPr lang="en-US" sz="1000">
                <a:solidFill>
                  <a:srgbClr val="9AA5B4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0" lang="en-US" sz="1000" u="none" cap="none" strike="noStrike">
                <a:solidFill>
                  <a:srgbClr val="9AA5B4"/>
                </a:solidFill>
                <a:latin typeface="Calibri"/>
                <a:ea typeface="Calibri"/>
                <a:cs typeface="Calibri"/>
                <a:sym typeface="Calibri"/>
              </a:rPr>
              <a:t> opposing AI agents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B2D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842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5C842"/>
                </a:solidFill>
                <a:latin typeface="Georgia"/>
                <a:ea typeface="Georgia"/>
                <a:cs typeface="Georgia"/>
                <a:sym typeface="Georgia"/>
              </a:rPr>
              <a:t>Approach &amp; Design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365710" y="1321300"/>
            <a:ext cx="1965900" cy="2560200"/>
          </a:xfrm>
          <a:prstGeom prst="rect">
            <a:avLst/>
          </a:prstGeom>
          <a:solidFill>
            <a:srgbClr val="1E2A3A"/>
          </a:solidFill>
          <a:ln cap="flat" cmpd="sng" w="9525">
            <a:solidFill>
              <a:srgbClr val="2C3E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5"/>
          <p:cNvSpPr/>
          <p:nvPr/>
        </p:nvSpPr>
        <p:spPr>
          <a:xfrm>
            <a:off x="365710" y="1431028"/>
            <a:ext cx="1965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365710" y="1915660"/>
            <a:ext cx="1965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Graph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457150" y="2308852"/>
            <a:ext cx="17832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10×10 grid, bidirectional edges with random weights [1–50]. Stored as adjacency dict + edge-cost lookup.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2514550" y="1321300"/>
            <a:ext cx="1965900" cy="2560200"/>
          </a:xfrm>
          <a:prstGeom prst="rect">
            <a:avLst/>
          </a:prstGeom>
          <a:solidFill>
            <a:srgbClr val="1E2A3A"/>
          </a:solidFill>
          <a:ln cap="flat" cmpd="sng" w="9525">
            <a:solidFill>
              <a:srgbClr val="2C3E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5"/>
          <p:cNvSpPr/>
          <p:nvPr/>
        </p:nvSpPr>
        <p:spPr>
          <a:xfrm>
            <a:off x="2514550" y="1431028"/>
            <a:ext cx="1965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2514550" y="1915660"/>
            <a:ext cx="1965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Player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2605990" y="2308852"/>
            <a:ext cx="17832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WASD / Arrow keys. Each move costs the edge weight. 5-second timer — miss it and agents advance.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4663390" y="1321300"/>
            <a:ext cx="1965900" cy="2560200"/>
          </a:xfrm>
          <a:prstGeom prst="rect">
            <a:avLst/>
          </a:prstGeom>
          <a:solidFill>
            <a:srgbClr val="1E2A3A"/>
          </a:solidFill>
          <a:ln cap="flat" cmpd="sng" w="9525">
            <a:solidFill>
              <a:srgbClr val="2C3E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4663390" y="1431028"/>
            <a:ext cx="1965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4663390" y="1915660"/>
            <a:ext cx="1965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Agents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4754830" y="2308852"/>
            <a:ext cx="17832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All 4 AI agents compute full paths before the game starts, then execute them step-by-step each turn.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6812230" y="1321300"/>
            <a:ext cx="1965900" cy="2560200"/>
          </a:xfrm>
          <a:prstGeom prst="rect">
            <a:avLst/>
          </a:prstGeom>
          <a:solidFill>
            <a:srgbClr val="1E2A3A"/>
          </a:solidFill>
          <a:ln cap="flat" cmpd="sng" w="9525">
            <a:solidFill>
              <a:srgbClr val="2C3E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6812230" y="1431028"/>
            <a:ext cx="1965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6812230" y="1915660"/>
            <a:ext cx="1965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Win Condition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6903670" y="2308852"/>
            <a:ext cx="17832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Reach the goal. Your total cost must be ≤ the best AI cost. A* sets the optimal benchmark.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365710" y="4110220"/>
            <a:ext cx="8412600" cy="45600"/>
          </a:xfrm>
          <a:prstGeom prst="rect">
            <a:avLst/>
          </a:prstGeom>
          <a:solidFill>
            <a:srgbClr val="F5C842"/>
          </a:solidFill>
          <a:ln cap="flat" cmpd="sng" w="12700">
            <a:solidFill>
              <a:srgbClr val="F5C8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2267662" y="4229092"/>
            <a:ext cx="6309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creen4.png" id="58" name="Google Shape;5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2639" y="1332748"/>
            <a:ext cx="772076" cy="637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5" title="funn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63736" y="1405813"/>
            <a:ext cx="867602" cy="50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61400" y="1419451"/>
            <a:ext cx="867626" cy="55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74875" y="1088125"/>
            <a:ext cx="1142976" cy="1143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B2D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842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5C842"/>
                </a:solidFill>
                <a:latin typeface="Georgia"/>
                <a:ea typeface="Georgia"/>
                <a:cs typeface="Georgia"/>
                <a:sym typeface="Georgia"/>
              </a:rPr>
              <a:t>AI Agents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5B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AA5B4"/>
                </a:solidFill>
                <a:latin typeface="Calibri"/>
                <a:ea typeface="Calibri"/>
                <a:cs typeface="Calibri"/>
                <a:sym typeface="Calibri"/>
              </a:rPr>
              <a:t>Four algorithms, four strategies — all compete on the same board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365760" y="1143000"/>
            <a:ext cx="4069080" cy="1691640"/>
          </a:xfrm>
          <a:prstGeom prst="rect">
            <a:avLst/>
          </a:prstGeom>
          <a:solidFill>
            <a:srgbClr val="1E2A3A"/>
          </a:solidFill>
          <a:ln cap="flat" cmpd="sng" w="9525">
            <a:solidFill>
              <a:srgbClr val="2C3E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"/>
          <p:cNvSpPr/>
          <p:nvPr/>
        </p:nvSpPr>
        <p:spPr>
          <a:xfrm>
            <a:off x="365760" y="1143000"/>
            <a:ext cx="64008" cy="1691640"/>
          </a:xfrm>
          <a:prstGeom prst="rect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"/>
          <p:cNvSpPr/>
          <p:nvPr/>
        </p:nvSpPr>
        <p:spPr>
          <a:xfrm>
            <a:off x="502920" y="123444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76F51"/>
                </a:solidFill>
                <a:latin typeface="Calibri"/>
                <a:ea typeface="Calibri"/>
                <a:cs typeface="Calibri"/>
                <a:sym typeface="Calibri"/>
              </a:rPr>
              <a:t>Greedy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502920" y="155448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5B4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AA5B4"/>
                </a:solidFill>
                <a:latin typeface="Calibri"/>
                <a:ea typeface="Calibri"/>
                <a:cs typeface="Calibri"/>
                <a:sym typeface="Calibri"/>
              </a:rPr>
              <a:t>Fast · Myopic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502920" y="1801368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Picks the neighbor with the lowest Manhattan distance to goal each step. Edge cost is only a tiebreaker. Never revisits nodes. Reaches the goal quickly but often via expensive edges.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365760" y="2971800"/>
            <a:ext cx="4069080" cy="1691640"/>
          </a:xfrm>
          <a:prstGeom prst="rect">
            <a:avLst/>
          </a:prstGeom>
          <a:solidFill>
            <a:srgbClr val="1E2A3A"/>
          </a:solidFill>
          <a:ln cap="flat" cmpd="sng" w="9525">
            <a:solidFill>
              <a:srgbClr val="2C3E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"/>
          <p:cNvSpPr/>
          <p:nvPr/>
        </p:nvSpPr>
        <p:spPr>
          <a:xfrm>
            <a:off x="365760" y="2971800"/>
            <a:ext cx="64008" cy="1691640"/>
          </a:xfrm>
          <a:prstGeom prst="rect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502920" y="306324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Simulated Annealing ×2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502920" y="338328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5B4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AA5B4"/>
                </a:solidFill>
                <a:latin typeface="Calibri"/>
                <a:ea typeface="Calibri"/>
                <a:cs typeface="Calibri"/>
                <a:sym typeface="Calibri"/>
              </a:rPr>
              <a:t>Probabilistic · Escape-capable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502920" y="3630168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Starts from a random path and iteratively mutates sub-segments. Accepts worse solutions early (high temperature) to escape local minima. Two agents with different seeds and temperature schedules — one explores widely, one refines a cost-aware seed.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4709160" y="1143000"/>
            <a:ext cx="4069080" cy="1691640"/>
          </a:xfrm>
          <a:prstGeom prst="rect">
            <a:avLst/>
          </a:prstGeom>
          <a:solidFill>
            <a:srgbClr val="1E2A3A"/>
          </a:solidFill>
          <a:ln cap="flat" cmpd="sng" w="9525">
            <a:solidFill>
              <a:srgbClr val="2C3E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4709160" y="1143000"/>
            <a:ext cx="64008" cy="1691640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4846320" y="123444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Genetic Algorithm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4846320" y="155448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5B4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AA5B4"/>
                </a:solidFill>
                <a:latin typeface="Calibri"/>
                <a:ea typeface="Calibri"/>
                <a:cs typeface="Calibri"/>
                <a:sym typeface="Calibri"/>
              </a:rPr>
              <a:t>Population-based · Evolutionary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4846320" y="1801368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Maintains 30 complete paths per generation. Tournament selection picks parents; crossover splices at shared nodes; SA mutation perturbs offspring. Seeded from 60 warm-up SA runs so it starts board-aware. Elitism preserves the top 2 paths each generation.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4709160" y="2971800"/>
            <a:ext cx="4069080" cy="1691640"/>
          </a:xfrm>
          <a:prstGeom prst="rect">
            <a:avLst/>
          </a:prstGeom>
          <a:solidFill>
            <a:srgbClr val="1E2A3A"/>
          </a:solidFill>
          <a:ln cap="flat" cmpd="sng" w="9525">
            <a:solidFill>
              <a:srgbClr val="2C3E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4709160" y="2971800"/>
            <a:ext cx="64008" cy="1691640"/>
          </a:xfrm>
          <a:prstGeom prst="rect">
            <a:avLst/>
          </a:prstGeom>
          <a:solidFill>
            <a:srgbClr val="F5C842"/>
          </a:solidFill>
          <a:ln cap="flat" cmpd="sng" w="12700">
            <a:solidFill>
              <a:srgbClr val="F5C8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4846320" y="306324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84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5C842"/>
                </a:solidFill>
                <a:latin typeface="Calibri"/>
                <a:ea typeface="Calibri"/>
                <a:cs typeface="Calibri"/>
                <a:sym typeface="Calibri"/>
              </a:rPr>
              <a:t>A*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4846320" y="338328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5B4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AA5B4"/>
                </a:solidFill>
                <a:latin typeface="Calibri"/>
                <a:ea typeface="Calibri"/>
                <a:cs typeface="Calibri"/>
                <a:sym typeface="Calibri"/>
              </a:rPr>
              <a:t>Optimal · Guaranteed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4846320" y="3630168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Priority queue on f(n) = g(n) + h(n). g(n) is true accumulated cost; h(n) is Manhattan distance (admissible heuristic). Guaranteed to find the true minimum-cost path. Serves as the gold-standard benchmark.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B2D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842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5C842"/>
                </a:solidFill>
                <a:latin typeface="Georgia"/>
                <a:ea typeface="Georgia"/>
                <a:cs typeface="Georgia"/>
                <a:sym typeface="Georgia"/>
              </a:rPr>
              <a:t>Inside SA &amp; GA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365760" y="868680"/>
            <a:ext cx="4069080" cy="3977640"/>
          </a:xfrm>
          <a:prstGeom prst="rect">
            <a:avLst/>
          </a:prstGeom>
          <a:solidFill>
            <a:srgbClr val="1E2A3A"/>
          </a:solidFill>
          <a:ln cap="flat" cmpd="sng" w="9525">
            <a:solidFill>
              <a:srgbClr val="2C3E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365760" y="868680"/>
            <a:ext cx="64008" cy="3977640"/>
          </a:xfrm>
          <a:prstGeom prst="rect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7"/>
          <p:cNvSpPr/>
          <p:nvPr/>
        </p:nvSpPr>
        <p:spPr>
          <a:xfrm>
            <a:off x="548640" y="96012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Simulated Annealing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548640" y="1371600"/>
            <a:ext cx="3749040" cy="333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84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5C842"/>
                </a:solidFill>
                <a:latin typeface="Calibri"/>
                <a:ea typeface="Calibri"/>
                <a:cs typeface="Calibri"/>
                <a:sym typeface="Calibri"/>
              </a:rPr>
              <a:t>1. Start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SA-1 from a random path (temp 400).  SA-2 from a cheapest-neighbor path (temp 150).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84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5C842"/>
                </a:solidFill>
                <a:latin typeface="Calibri"/>
                <a:ea typeface="Calibri"/>
                <a:cs typeface="Calibri"/>
                <a:sym typeface="Calibri"/>
              </a:rPr>
              <a:t>2. Mutate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Pick two points on the path, re-route the segment between them randomly.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84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5C842"/>
                </a:solidFill>
                <a:latin typeface="Calibri"/>
                <a:ea typeface="Calibri"/>
                <a:cs typeface="Calibri"/>
                <a:sym typeface="Calibri"/>
              </a:rPr>
              <a:t>3. Accept?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Always accept improvements. Accept worse solutions with probability e^(−Δcost/temp).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84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5C842"/>
                </a:solidFill>
                <a:latin typeface="Calibri"/>
                <a:ea typeface="Calibri"/>
                <a:cs typeface="Calibri"/>
                <a:sym typeface="Calibri"/>
              </a:rPr>
              <a:t>4. Cool down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temp × 0.997 each iteration × 10,000 iterations. Converges from exploration to exploitation.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84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5C842"/>
                </a:solidFill>
                <a:latin typeface="Calibri"/>
                <a:ea typeface="Calibri"/>
                <a:cs typeface="Calibri"/>
                <a:sym typeface="Calibri"/>
              </a:rPr>
              <a:t>Key design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Different seeds ensure the two agents genuinely explore different regions — not just re-running the same search twice.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4709160" y="868680"/>
            <a:ext cx="4069080" cy="3977640"/>
          </a:xfrm>
          <a:prstGeom prst="rect">
            <a:avLst/>
          </a:prstGeom>
          <a:solidFill>
            <a:srgbClr val="1E2A3A"/>
          </a:solidFill>
          <a:ln cap="flat" cmpd="sng" w="9525">
            <a:solidFill>
              <a:srgbClr val="2C3E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7"/>
          <p:cNvSpPr/>
          <p:nvPr/>
        </p:nvSpPr>
        <p:spPr>
          <a:xfrm>
            <a:off x="4709160" y="868680"/>
            <a:ext cx="64008" cy="3977640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7"/>
          <p:cNvSpPr/>
          <p:nvPr/>
        </p:nvSpPr>
        <p:spPr>
          <a:xfrm>
            <a:off x="4892040" y="96012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Genetic Algorithm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4892040" y="1371600"/>
            <a:ext cx="3749040" cy="333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84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5C842"/>
                </a:solidFill>
                <a:latin typeface="Calibri"/>
                <a:ea typeface="Calibri"/>
                <a:cs typeface="Calibri"/>
                <a:sym typeface="Calibri"/>
              </a:rPr>
              <a:t>1. Warm-up pool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60 short SA runs at staggered temperatures build a board-aware population before GA begins.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84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5C842"/>
                </a:solidFill>
                <a:latin typeface="Calibri"/>
                <a:ea typeface="Calibri"/>
                <a:cs typeface="Calibri"/>
                <a:sym typeface="Calibri"/>
              </a:rPr>
              <a:t>2. Selection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Tournament (k=4): randomly sample 4 paths, keep the cheapest. Repeat for two parents.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84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5C842"/>
                </a:solidFill>
                <a:latin typeface="Calibri"/>
                <a:ea typeface="Calibri"/>
                <a:cs typeface="Calibri"/>
                <a:sym typeface="Calibri"/>
              </a:rPr>
              <a:t>3. Crossover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Find a node shared by both parents. Splice the first half of parent1 with the second half of parent2 from that node.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84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5C842"/>
                </a:solidFill>
                <a:latin typeface="Calibri"/>
                <a:ea typeface="Calibri"/>
                <a:cs typeface="Calibri"/>
                <a:sym typeface="Calibri"/>
              </a:rPr>
              <a:t>4. Mutation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40% → 10% mutation rate decay. Uses the SA mutation function — reroutes a sub-segment.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84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5C842"/>
                </a:solidFill>
                <a:latin typeface="Calibri"/>
                <a:ea typeface="Calibri"/>
                <a:cs typeface="Calibri"/>
                <a:sym typeface="Calibri"/>
              </a:rPr>
              <a:t>Elitism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Top 2 paths survive every generation unchanged. 80 generations, population size 30.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8"/>
          <p:cNvSpPr txBox="1"/>
          <p:nvPr/>
        </p:nvSpPr>
        <p:spPr>
          <a:xfrm>
            <a:off x="457200" y="219456"/>
            <a:ext cx="4389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5C842"/>
                </a:solidFill>
                <a:latin typeface="Georgia"/>
                <a:ea typeface="Georgia"/>
                <a:cs typeface="Georgia"/>
                <a:sym typeface="Georgia"/>
              </a:rPr>
              <a:t>Graphs &amp; Metrics</a:t>
            </a:r>
            <a:endParaRPr/>
          </a:p>
        </p:txBody>
      </p:sp>
      <p:sp>
        <p:nvSpPr>
          <p:cNvPr id="108" name="Google Shape;108;p8"/>
          <p:cNvSpPr txBox="1"/>
          <p:nvPr/>
        </p:nvSpPr>
        <p:spPr>
          <a:xfrm>
            <a:off x="475488" y="640080"/>
            <a:ext cx="795527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50">
                <a:solidFill>
                  <a:srgbClr val="9AA5B4"/>
                </a:solidFill>
                <a:latin typeface="Calibri"/>
                <a:ea typeface="Calibri"/>
                <a:cs typeface="Calibri"/>
                <a:sym typeface="Calibri"/>
              </a:rPr>
              <a:t>100 randomized boards  ·  lower rank and lower cost are better</a:t>
            </a:r>
            <a:endParaRPr/>
          </a:p>
        </p:txBody>
      </p:sp>
      <p:pic>
        <p:nvPicPr>
          <p:cNvPr descr="avg_placement.png" id="109" name="Google Shape;10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932688"/>
            <a:ext cx="3794760" cy="2111169"/>
          </a:xfrm>
          <a:prstGeom prst="rect">
            <a:avLst/>
          </a:prstGeom>
          <a:noFill/>
          <a:ln cap="flat" cmpd="sng" w="12700">
            <a:solidFill>
              <a:srgbClr val="2C3E5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dnf_rate.png" id="110" name="Google Shape;11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3127248"/>
            <a:ext cx="3201746" cy="1810512"/>
          </a:xfrm>
          <a:prstGeom prst="rect">
            <a:avLst/>
          </a:prstGeom>
          <a:noFill/>
          <a:ln cap="flat" cmpd="sng" w="12700">
            <a:solidFill>
              <a:srgbClr val="2C3E5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1" name="Google Shape;111;p8"/>
          <p:cNvSpPr txBox="1"/>
          <p:nvPr/>
        </p:nvSpPr>
        <p:spPr>
          <a:xfrm>
            <a:off x="4690872" y="3968496"/>
            <a:ext cx="3831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Figure 3. Placement frequency heatmap (100 trials, DNF excluded). Cell values show count per rank per agent.&#10;Figure 3. Placement frequency heatmap (100 trials, DNF excluded). Cell values show count per rank per agent." id="112" name="Google Shape;112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05975" y="2845040"/>
            <a:ext cx="3831300" cy="21563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ean_cost.png" id="113" name="Google Shape;113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05975" y="574601"/>
            <a:ext cx="3794750" cy="2140824"/>
          </a:xfrm>
          <a:prstGeom prst="rect">
            <a:avLst/>
          </a:prstGeom>
          <a:noFill/>
          <a:ln cap="flat" cmpd="sng" w="12700">
            <a:solidFill>
              <a:srgbClr val="2C3E55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B2D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9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842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5C842"/>
                </a:solidFill>
                <a:latin typeface="Georgia"/>
                <a:ea typeface="Georgia"/>
                <a:cs typeface="Georgia"/>
                <a:sym typeface="Georgia"/>
              </a:rPr>
              <a:t>Demo &amp; Results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screen4.png" id="120" name="Google Shape;12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7735" y="868680"/>
            <a:ext cx="4206239" cy="2651761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9"/>
          <p:cNvSpPr/>
          <p:nvPr/>
        </p:nvSpPr>
        <p:spPr>
          <a:xfrm>
            <a:off x="365760" y="3547872"/>
            <a:ext cx="4206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5B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AA5B4"/>
                </a:solidFill>
                <a:latin typeface="Calibri"/>
                <a:ea typeface="Calibri"/>
                <a:cs typeface="Calibri"/>
                <a:sym typeface="Calibri"/>
              </a:rPr>
              <a:t>Live race — agents diverge noticeably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9"/>
          <p:cNvSpPr/>
          <p:nvPr/>
        </p:nvSpPr>
        <p:spPr>
          <a:xfrm>
            <a:off x="4663440" y="3547872"/>
            <a:ext cx="4206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A5B4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9"/>
          <p:cNvSpPr/>
          <p:nvPr/>
        </p:nvSpPr>
        <p:spPr>
          <a:xfrm>
            <a:off x="365760" y="3822192"/>
            <a:ext cx="2011680" cy="1051560"/>
          </a:xfrm>
          <a:prstGeom prst="rect">
            <a:avLst/>
          </a:prstGeom>
          <a:solidFill>
            <a:srgbClr val="1E2A3A"/>
          </a:solidFill>
          <a:ln cap="flat" cmpd="sng" w="9525">
            <a:solidFill>
              <a:srgbClr val="2C3E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9"/>
          <p:cNvSpPr/>
          <p:nvPr/>
        </p:nvSpPr>
        <p:spPr>
          <a:xfrm>
            <a:off x="365760" y="3822192"/>
            <a:ext cx="54864" cy="1051560"/>
          </a:xfrm>
          <a:prstGeom prst="rect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9"/>
          <p:cNvSpPr/>
          <p:nvPr/>
        </p:nvSpPr>
        <p:spPr>
          <a:xfrm>
            <a:off x="484632" y="3858768"/>
            <a:ext cx="1810512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Greedy finished every trial, but had the worst average rank and about 29% higher cost than A*.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2514600" y="3822192"/>
            <a:ext cx="2011680" cy="1051560"/>
          </a:xfrm>
          <a:prstGeom prst="rect">
            <a:avLst/>
          </a:prstGeom>
          <a:solidFill>
            <a:srgbClr val="1E2A3A"/>
          </a:solidFill>
          <a:ln cap="flat" cmpd="sng" w="9525">
            <a:solidFill>
              <a:srgbClr val="2C3E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9"/>
          <p:cNvSpPr/>
          <p:nvPr/>
        </p:nvSpPr>
        <p:spPr>
          <a:xfrm>
            <a:off x="2514600" y="3822192"/>
            <a:ext cx="54864" cy="1051560"/>
          </a:xfrm>
          <a:prstGeom prst="rect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9"/>
          <p:cNvSpPr/>
          <p:nvPr/>
        </p:nvSpPr>
        <p:spPr>
          <a:xfrm>
            <a:off x="2633472" y="3858768"/>
            <a:ext cx="1810512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The SA agents were competitive when they worked, </a:t>
            </a:r>
            <a:r>
              <a:rPr lang="en-US" sz="1000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only ~8% above optimal, </a:t>
            </a:r>
            <a:r>
              <a:rPr lang="en-US" sz="1000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but failed to finish 17% and 12% of trials.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9"/>
          <p:cNvSpPr/>
          <p:nvPr/>
        </p:nvSpPr>
        <p:spPr>
          <a:xfrm>
            <a:off x="4663440" y="3822192"/>
            <a:ext cx="2011680" cy="1051560"/>
          </a:xfrm>
          <a:prstGeom prst="rect">
            <a:avLst/>
          </a:prstGeom>
          <a:solidFill>
            <a:srgbClr val="1E2A3A"/>
          </a:solidFill>
          <a:ln cap="flat" cmpd="sng" w="9525">
            <a:solidFill>
              <a:srgbClr val="2C3E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"/>
          <p:cNvSpPr/>
          <p:nvPr/>
        </p:nvSpPr>
        <p:spPr>
          <a:xfrm>
            <a:off x="4663440" y="3822192"/>
            <a:ext cx="54864" cy="1051560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9"/>
          <p:cNvSpPr/>
          <p:nvPr/>
        </p:nvSpPr>
        <p:spPr>
          <a:xfrm>
            <a:off x="4782312" y="3858768"/>
            <a:ext cx="1810512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GA was the best </a:t>
            </a:r>
            <a:r>
              <a:rPr lang="en-US" sz="1000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probabilistic</a:t>
            </a:r>
            <a:r>
              <a:rPr lang="en-US" sz="1000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 agent. It never failed to </a:t>
            </a:r>
            <a:r>
              <a:rPr lang="en-US" sz="1000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finish</a:t>
            </a:r>
            <a:r>
              <a:rPr lang="en-US" sz="1000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 (DNF) and had paths only ~1.4% above A* on average.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9"/>
          <p:cNvSpPr/>
          <p:nvPr/>
        </p:nvSpPr>
        <p:spPr>
          <a:xfrm>
            <a:off x="6812280" y="3822192"/>
            <a:ext cx="2011680" cy="1051560"/>
          </a:xfrm>
          <a:prstGeom prst="rect">
            <a:avLst/>
          </a:prstGeom>
          <a:solidFill>
            <a:srgbClr val="1E2A3A"/>
          </a:solidFill>
          <a:ln cap="flat" cmpd="sng" w="9525">
            <a:solidFill>
              <a:srgbClr val="2C3E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9"/>
          <p:cNvSpPr/>
          <p:nvPr/>
        </p:nvSpPr>
        <p:spPr>
          <a:xfrm>
            <a:off x="6812280" y="3822192"/>
            <a:ext cx="54864" cy="1051560"/>
          </a:xfrm>
          <a:prstGeom prst="rect">
            <a:avLst/>
          </a:prstGeom>
          <a:solidFill>
            <a:srgbClr val="F5C842"/>
          </a:solidFill>
          <a:ln cap="flat" cmpd="sng" w="12700">
            <a:solidFill>
              <a:srgbClr val="F5C8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9"/>
          <p:cNvSpPr/>
          <p:nvPr/>
        </p:nvSpPr>
        <p:spPr>
          <a:xfrm>
            <a:off x="6931152" y="3858768"/>
            <a:ext cx="1810512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A* won all 100 trials with zero DNFs and always found the true optimal path.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igure 4. 10-game rolling average placement per agent. DNF games are treated as rank 5.5 for visualization.&#10;Figure 4. 10-game rolling average placement per agent. DNF games are treated as rank 5.5 for visualization." id="135" name="Google Shape;135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3975" y="1082425"/>
            <a:ext cx="4719824" cy="21471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B2D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842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5C842"/>
                </a:solidFill>
                <a:latin typeface="Georgia"/>
                <a:ea typeface="Georgia"/>
                <a:cs typeface="Georgia"/>
                <a:sym typeface="Georgia"/>
              </a:rPr>
              <a:t>Key Lessons Learned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0"/>
          <p:cNvSpPr/>
          <p:nvPr/>
        </p:nvSpPr>
        <p:spPr>
          <a:xfrm>
            <a:off x="365760" y="914400"/>
            <a:ext cx="4069080" cy="1828800"/>
          </a:xfrm>
          <a:prstGeom prst="rect">
            <a:avLst/>
          </a:prstGeom>
          <a:solidFill>
            <a:srgbClr val="1E2A3A"/>
          </a:solidFill>
          <a:ln cap="flat" cmpd="sng" w="9525">
            <a:solidFill>
              <a:srgbClr val="2C3E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0"/>
          <p:cNvSpPr/>
          <p:nvPr/>
        </p:nvSpPr>
        <p:spPr>
          <a:xfrm>
            <a:off x="502920" y="102412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842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5C842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0"/>
          <p:cNvSpPr/>
          <p:nvPr/>
        </p:nvSpPr>
        <p:spPr>
          <a:xfrm>
            <a:off x="1024128" y="1042416"/>
            <a:ext cx="3246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A* sets the ceiling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0"/>
          <p:cNvSpPr/>
          <p:nvPr/>
        </p:nvSpPr>
        <p:spPr>
          <a:xfrm>
            <a:off x="502920" y="1508760"/>
            <a:ext cx="38404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5B4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As expected A* is optimal. The 100/100 </a:t>
            </a:r>
            <a:r>
              <a:rPr lang="en-US" sz="1150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1st place </a:t>
            </a:r>
            <a:r>
              <a:rPr lang="en-US" sz="1150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record on the trial dataset confirms there are no edge cases where A* fails on this graph.</a:t>
            </a:r>
            <a:endParaRPr b="0" i="0" sz="1150" u="none" cap="none" strike="noStrike">
              <a:solidFill>
                <a:srgbClr val="F0F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0"/>
          <p:cNvSpPr/>
          <p:nvPr/>
        </p:nvSpPr>
        <p:spPr>
          <a:xfrm>
            <a:off x="365760" y="2926080"/>
            <a:ext cx="4069080" cy="1828800"/>
          </a:xfrm>
          <a:prstGeom prst="rect">
            <a:avLst/>
          </a:prstGeom>
          <a:solidFill>
            <a:srgbClr val="1E2A3A"/>
          </a:solidFill>
          <a:ln cap="flat" cmpd="sng" w="9525">
            <a:solidFill>
              <a:srgbClr val="2C3E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"/>
          <p:cNvSpPr/>
          <p:nvPr/>
        </p:nvSpPr>
        <p:spPr>
          <a:xfrm>
            <a:off x="502920" y="303580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842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5C842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0"/>
          <p:cNvSpPr/>
          <p:nvPr/>
        </p:nvSpPr>
        <p:spPr>
          <a:xfrm>
            <a:off x="1024128" y="3054096"/>
            <a:ext cx="3246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Warm-Start </a:t>
            </a:r>
            <a:r>
              <a:rPr b="1" i="0" lang="en-US" sz="13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GA w</a:t>
            </a:r>
            <a:r>
              <a:rPr b="1" lang="en-US" sz="1300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orks shockingly well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0"/>
          <p:cNvSpPr/>
          <p:nvPr/>
        </p:nvSpPr>
        <p:spPr>
          <a:xfrm>
            <a:off x="502920" y="3520440"/>
            <a:ext cx="38404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5B4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GA averaged a 1.014 cost ratio with no DNFs. Seeding with 60 SA plans, along with elitism, made it consistently near optimal.</a:t>
            </a:r>
            <a:endParaRPr b="0" i="0" sz="1150" u="none" cap="none" strike="noStrike">
              <a:solidFill>
                <a:srgbClr val="F0F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0"/>
          <p:cNvSpPr/>
          <p:nvPr/>
        </p:nvSpPr>
        <p:spPr>
          <a:xfrm>
            <a:off x="4709160" y="914400"/>
            <a:ext cx="4069080" cy="1828800"/>
          </a:xfrm>
          <a:prstGeom prst="rect">
            <a:avLst/>
          </a:prstGeom>
          <a:solidFill>
            <a:srgbClr val="1E2A3A"/>
          </a:solidFill>
          <a:ln cap="flat" cmpd="sng" w="9525">
            <a:solidFill>
              <a:srgbClr val="2C3E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0"/>
          <p:cNvSpPr/>
          <p:nvPr/>
        </p:nvSpPr>
        <p:spPr>
          <a:xfrm>
            <a:off x="4846320" y="102412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842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5C842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0"/>
          <p:cNvSpPr/>
          <p:nvPr/>
        </p:nvSpPr>
        <p:spPr>
          <a:xfrm>
            <a:off x="5367528" y="1042416"/>
            <a:ext cx="3246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SA needs repair logic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0"/>
          <p:cNvSpPr/>
          <p:nvPr/>
        </p:nvSpPr>
        <p:spPr>
          <a:xfrm>
            <a:off x="4846320" y="1508760"/>
            <a:ext cx="38404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5B4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SA-1 and SA-2 were competitive when they finished, but failed in 17% and 12% of trials respectively. Its mutation step</a:t>
            </a:r>
            <a:r>
              <a:rPr b="0" i="0" lang="en-US" sz="115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50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r>
              <a:rPr b="0" i="0" lang="en-US" sz="115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 teleporting to non-adjacent nodes when it </a:t>
            </a:r>
            <a:r>
              <a:rPr lang="en-US" sz="1150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runs out of legal moves (trying not to retread ground, it stalls)</a:t>
            </a:r>
            <a:r>
              <a:rPr b="0" i="0" lang="en-US" sz="115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150">
              <a:solidFill>
                <a:srgbClr val="F0F0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5B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A greedy fallback guaranteeing adjacency</a:t>
            </a:r>
            <a:r>
              <a:rPr lang="en-US" sz="1150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 is a promising</a:t>
            </a:r>
            <a:r>
              <a:rPr b="0" i="0" lang="en-US" sz="115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 fix.</a:t>
            </a:r>
            <a:endParaRPr b="0" i="0" sz="1150" u="none" cap="none" strike="noStrike">
              <a:solidFill>
                <a:srgbClr val="F0F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0"/>
          <p:cNvSpPr/>
          <p:nvPr/>
        </p:nvSpPr>
        <p:spPr>
          <a:xfrm>
            <a:off x="4709160" y="2926080"/>
            <a:ext cx="4069080" cy="1828800"/>
          </a:xfrm>
          <a:prstGeom prst="rect">
            <a:avLst/>
          </a:prstGeom>
          <a:solidFill>
            <a:srgbClr val="1E2A3A"/>
          </a:solidFill>
          <a:ln cap="flat" cmpd="sng" w="9525">
            <a:solidFill>
              <a:srgbClr val="2C3E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0"/>
          <p:cNvSpPr/>
          <p:nvPr/>
        </p:nvSpPr>
        <p:spPr>
          <a:xfrm>
            <a:off x="4846320" y="303580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842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F5C842"/>
                </a:solidFill>
                <a:latin typeface="Georgia"/>
                <a:ea typeface="Georgia"/>
                <a:cs typeface="Georgia"/>
                <a:sym typeface="Georgia"/>
              </a:rPr>
              <a:t>04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5367528" y="3054096"/>
            <a:ext cx="3246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r>
              <a:rPr b="1" lang="en-US" sz="1300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reedy is Safe but Costy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0"/>
          <p:cNvSpPr/>
          <p:nvPr/>
        </p:nvSpPr>
        <p:spPr>
          <a:xfrm>
            <a:off x="4846320" y="3520440"/>
            <a:ext cx="38404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5B4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Greedy’s strength is in small graphs where short term guesses have less time to backfire. This makes it useful for finishing the incomplete paths computed by SA/GA, but </a:t>
            </a:r>
            <a:r>
              <a:rPr lang="en-US" sz="1150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on this graph, the Manhattan heuristic provides no useful information about which edges are cheap. It’s blind gambles proved costly.</a:t>
            </a:r>
            <a:endParaRPr b="0" i="0" sz="1150" u="none" cap="none" strike="noStrike">
              <a:solidFill>
                <a:srgbClr val="F0F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B2D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842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F5C842"/>
                </a:solidFill>
                <a:latin typeface="Georgia"/>
                <a:ea typeface="Georgia"/>
                <a:cs typeface="Georgia"/>
                <a:sym typeface="Georgia"/>
              </a:rPr>
              <a:t>Work Distribution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1"/>
          <p:cNvSpPr/>
          <p:nvPr/>
        </p:nvSpPr>
        <p:spPr>
          <a:xfrm>
            <a:off x="365760" y="960120"/>
            <a:ext cx="2606040" cy="1737360"/>
          </a:xfrm>
          <a:prstGeom prst="rect">
            <a:avLst/>
          </a:prstGeom>
          <a:solidFill>
            <a:srgbClr val="1E2A3A"/>
          </a:solidFill>
          <a:ln cap="flat" cmpd="sng" w="9525">
            <a:solidFill>
              <a:srgbClr val="2C3E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1"/>
          <p:cNvSpPr/>
          <p:nvPr/>
        </p:nvSpPr>
        <p:spPr>
          <a:xfrm>
            <a:off x="365760" y="960120"/>
            <a:ext cx="2606040" cy="54864"/>
          </a:xfrm>
          <a:prstGeom prst="rect">
            <a:avLst/>
          </a:prstGeom>
          <a:solidFill>
            <a:srgbClr val="F5C842"/>
          </a:solidFill>
          <a:ln cap="flat" cmpd="sng" w="12700">
            <a:solidFill>
              <a:srgbClr val="F5C8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1"/>
          <p:cNvSpPr/>
          <p:nvPr/>
        </p:nvSpPr>
        <p:spPr>
          <a:xfrm>
            <a:off x="475488" y="109728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C84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5C842"/>
                </a:solidFill>
                <a:latin typeface="Calibri"/>
                <a:ea typeface="Calibri"/>
                <a:cs typeface="Calibri"/>
                <a:sym typeface="Calibri"/>
              </a:rPr>
              <a:t>AI / Algorithms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1"/>
          <p:cNvSpPr/>
          <p:nvPr/>
        </p:nvSpPr>
        <p:spPr>
          <a:xfrm>
            <a:off x="475488" y="1435608"/>
            <a:ext cx="23774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SA, GA, A*, Greedy agents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Hyperparameter tuning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Path correctness</a:t>
            </a:r>
            <a:endParaRPr sz="1100">
              <a:solidFill>
                <a:srgbClr val="F0F0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F0F0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Simplistic Initial builds for all agents and finalized and GA, SA, handled by Kurtis</a:t>
            </a:r>
            <a:endParaRPr sz="1100">
              <a:solidFill>
                <a:srgbClr val="F0F0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Optimized Greedy and A* by Emily</a:t>
            </a:r>
            <a:endParaRPr sz="1100">
              <a:solidFill>
                <a:srgbClr val="F0F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1"/>
          <p:cNvSpPr/>
          <p:nvPr/>
        </p:nvSpPr>
        <p:spPr>
          <a:xfrm>
            <a:off x="3200400" y="960120"/>
            <a:ext cx="2606040" cy="1737360"/>
          </a:xfrm>
          <a:prstGeom prst="rect">
            <a:avLst/>
          </a:prstGeom>
          <a:solidFill>
            <a:srgbClr val="1E2A3A"/>
          </a:solidFill>
          <a:ln cap="flat" cmpd="sng" w="9525">
            <a:solidFill>
              <a:srgbClr val="2C3E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1"/>
          <p:cNvSpPr/>
          <p:nvPr/>
        </p:nvSpPr>
        <p:spPr>
          <a:xfrm>
            <a:off x="3200400" y="960120"/>
            <a:ext cx="2606040" cy="54864"/>
          </a:xfrm>
          <a:prstGeom prst="rect">
            <a:avLst/>
          </a:prstGeom>
          <a:solidFill>
            <a:srgbClr val="2A9D8F"/>
          </a:solidFill>
          <a:ln cap="flat" cmpd="sng" w="12700">
            <a:solidFill>
              <a:srgbClr val="2A9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1"/>
          <p:cNvSpPr/>
          <p:nvPr/>
        </p:nvSpPr>
        <p:spPr>
          <a:xfrm>
            <a:off x="3310128" y="109728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A9D8F"/>
                </a:solidFill>
                <a:latin typeface="Calibri"/>
                <a:ea typeface="Calibri"/>
                <a:cs typeface="Calibri"/>
                <a:sym typeface="Calibri"/>
              </a:rPr>
              <a:t>Game Engine &amp; Loop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3310125" y="1435600"/>
            <a:ext cx="237750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Main game loop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Turn timer &amp; player movement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Win / loss detection</a:t>
            </a:r>
            <a:endParaRPr b="0" i="0" sz="1100" u="none" cap="none" strike="noStrike">
              <a:solidFill>
                <a:srgbClr val="F0F0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Event logic</a:t>
            </a:r>
            <a:endParaRPr sz="1100">
              <a:solidFill>
                <a:srgbClr val="F0F0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F0F0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Handled by Kurtis with some reused code from an old project.</a:t>
            </a:r>
            <a:endParaRPr sz="1100">
              <a:solidFill>
                <a:srgbClr val="F0F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1"/>
          <p:cNvSpPr/>
          <p:nvPr/>
        </p:nvSpPr>
        <p:spPr>
          <a:xfrm>
            <a:off x="6035040" y="960120"/>
            <a:ext cx="2606040" cy="1737360"/>
          </a:xfrm>
          <a:prstGeom prst="rect">
            <a:avLst/>
          </a:prstGeom>
          <a:solidFill>
            <a:srgbClr val="1E2A3A"/>
          </a:solidFill>
          <a:ln cap="flat" cmpd="sng" w="9525">
            <a:solidFill>
              <a:srgbClr val="2C3E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1"/>
          <p:cNvSpPr/>
          <p:nvPr/>
        </p:nvSpPr>
        <p:spPr>
          <a:xfrm>
            <a:off x="6035040" y="960120"/>
            <a:ext cx="2606040" cy="54864"/>
          </a:xfrm>
          <a:prstGeom prst="rect">
            <a:avLst/>
          </a:prstGeom>
          <a:solidFill>
            <a:srgbClr val="A78BFA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1"/>
          <p:cNvSpPr/>
          <p:nvPr/>
        </p:nvSpPr>
        <p:spPr>
          <a:xfrm>
            <a:off x="6144768" y="109728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8BF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Board &amp; Graph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1"/>
          <p:cNvSpPr/>
          <p:nvPr/>
        </p:nvSpPr>
        <p:spPr>
          <a:xfrm>
            <a:off x="6144768" y="1435608"/>
            <a:ext cx="23774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Graph generation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Edge weight assignment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Adjacency structures</a:t>
            </a:r>
            <a:endParaRPr b="0" i="0" sz="1100" u="none" cap="none" strike="noStrike">
              <a:solidFill>
                <a:srgbClr val="F0F0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F0F0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Initial 6x6 grid built by Kurtis, expanded 10x10 and helper functions by Emily</a:t>
            </a:r>
            <a:endParaRPr sz="1100">
              <a:solidFill>
                <a:srgbClr val="F0F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1"/>
          <p:cNvSpPr/>
          <p:nvPr/>
        </p:nvSpPr>
        <p:spPr>
          <a:xfrm>
            <a:off x="1417320" y="3017520"/>
            <a:ext cx="2606040" cy="1737360"/>
          </a:xfrm>
          <a:prstGeom prst="rect">
            <a:avLst/>
          </a:prstGeom>
          <a:solidFill>
            <a:srgbClr val="1E2A3A"/>
          </a:solidFill>
          <a:ln cap="flat" cmpd="sng" w="9525">
            <a:solidFill>
              <a:srgbClr val="2C3E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1"/>
          <p:cNvSpPr/>
          <p:nvPr/>
        </p:nvSpPr>
        <p:spPr>
          <a:xfrm>
            <a:off x="1417320" y="3017520"/>
            <a:ext cx="2606040" cy="54864"/>
          </a:xfrm>
          <a:prstGeom prst="rect">
            <a:avLst/>
          </a:prstGeom>
          <a:solidFill>
            <a:srgbClr val="E76F51"/>
          </a:solidFill>
          <a:ln cap="flat" cmpd="sng" w="12700">
            <a:solidFill>
              <a:srgbClr val="E76F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1"/>
          <p:cNvSpPr/>
          <p:nvPr/>
        </p:nvSpPr>
        <p:spPr>
          <a:xfrm>
            <a:off x="1527048" y="315468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6F5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76F51"/>
                </a:solidFill>
                <a:latin typeface="Calibri"/>
                <a:ea typeface="Calibri"/>
                <a:cs typeface="Calibri"/>
                <a:sym typeface="Calibri"/>
              </a:rPr>
              <a:t>Rendering &amp; UI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1"/>
          <p:cNvSpPr/>
          <p:nvPr/>
        </p:nvSpPr>
        <p:spPr>
          <a:xfrm>
            <a:off x="1527048" y="3493008"/>
            <a:ext cx="23774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Draw pipeline &amp; HUD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Win screen &amp; menus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Sprite / image loading</a:t>
            </a:r>
            <a:endParaRPr b="0" i="0" sz="1100" u="none" cap="none" strike="noStrike">
              <a:solidFill>
                <a:srgbClr val="F0F0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F0F0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Handled by Kurtis with some reused code from a previous project</a:t>
            </a:r>
            <a:endParaRPr sz="1100">
              <a:solidFill>
                <a:srgbClr val="F0F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1"/>
          <p:cNvSpPr/>
          <p:nvPr/>
        </p:nvSpPr>
        <p:spPr>
          <a:xfrm>
            <a:off x="4251960" y="3017520"/>
            <a:ext cx="2606040" cy="1737360"/>
          </a:xfrm>
          <a:prstGeom prst="rect">
            <a:avLst/>
          </a:prstGeom>
          <a:solidFill>
            <a:srgbClr val="1E2A3A"/>
          </a:solidFill>
          <a:ln cap="flat" cmpd="sng" w="9525">
            <a:solidFill>
              <a:srgbClr val="2C3E5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1"/>
          <p:cNvSpPr/>
          <p:nvPr/>
        </p:nvSpPr>
        <p:spPr>
          <a:xfrm>
            <a:off x="4251960" y="3017520"/>
            <a:ext cx="2606040" cy="54864"/>
          </a:xfrm>
          <a:prstGeom prst="rect">
            <a:avLst/>
          </a:prstGeom>
          <a:solidFill>
            <a:srgbClr val="9AA5B4"/>
          </a:solidFill>
          <a:ln cap="flat" cmpd="sng" w="12700">
            <a:solidFill>
              <a:srgbClr val="9AA5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1"/>
          <p:cNvSpPr/>
          <p:nvPr/>
        </p:nvSpPr>
        <p:spPr>
          <a:xfrm>
            <a:off x="4361688" y="3493008"/>
            <a:ext cx="23774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Playtesting &amp; </a:t>
            </a:r>
            <a:r>
              <a:rPr lang="en-US" sz="1100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Bug squashing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Game Trials Data and Graphs</a:t>
            </a:r>
            <a:endParaRPr sz="1100">
              <a:solidFill>
                <a:srgbClr val="F0F0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F0F0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F0F0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0F0F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Project Proposal h</a:t>
            </a:r>
            <a:r>
              <a:rPr lang="en-US" sz="1100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andled by Emily, Technical Report handled by both</a:t>
            </a:r>
            <a:endParaRPr sz="1100">
              <a:solidFill>
                <a:srgbClr val="F0F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1"/>
          <p:cNvSpPr/>
          <p:nvPr/>
        </p:nvSpPr>
        <p:spPr>
          <a:xfrm>
            <a:off x="4361688" y="315468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5B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AA5B4"/>
                </a:solidFill>
                <a:latin typeface="Calibri"/>
                <a:ea typeface="Calibri"/>
                <a:cs typeface="Calibri"/>
                <a:sym typeface="Calibri"/>
              </a:rPr>
              <a:t>Testing &amp; Evaluation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1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A5B4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AA5B4"/>
                </a:solidFill>
                <a:latin typeface="Calibri"/>
                <a:ea typeface="Calibri"/>
                <a:cs typeface="Calibri"/>
                <a:sym typeface="Calibri"/>
              </a:rPr>
              <a:t>Note: responsibilities overlapped in practice — all members contributed across areas.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/>
          <p:nvPr/>
        </p:nvSpPr>
        <p:spPr>
          <a:xfrm>
            <a:off x="457200" y="16002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F5C842"/>
                </a:solidFill>
                <a:latin typeface="Georgia"/>
                <a:ea typeface="Georgia"/>
                <a:cs typeface="Georgia"/>
                <a:sym typeface="Georgia"/>
              </a:rPr>
              <a:t>Thank You</a:t>
            </a:r>
            <a:endParaRPr/>
          </a:p>
        </p:txBody>
      </p:sp>
      <p:sp>
        <p:nvSpPr>
          <p:cNvPr id="190" name="Google Shape;190;p12"/>
          <p:cNvSpPr txBox="1"/>
          <p:nvPr/>
        </p:nvSpPr>
        <p:spPr>
          <a:xfrm>
            <a:off x="457200" y="26060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800">
                <a:solidFill>
                  <a:srgbClr val="F0F0F0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